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5"/>
  </p:notesMasterIdLst>
  <p:sldIdLst>
    <p:sldId id="298" r:id="rId2"/>
    <p:sldId id="299" r:id="rId3"/>
    <p:sldId id="300" r:id="rId4"/>
  </p:sldIdLst>
  <p:sldSz cx="9144000" cy="5143500" type="screen16x9"/>
  <p:notesSz cx="6858000" cy="9144000"/>
  <p:embeddedFontLst>
    <p:embeddedFont>
      <p:font typeface="Dosis" charset="0"/>
      <p:regular r:id="rId6"/>
      <p:bold r:id="rId7"/>
    </p:embeddedFont>
    <p:embeddedFont>
      <p:font typeface="Roboto" pitchFamily="2" charset="0"/>
      <p:regular r:id="rId8"/>
      <p:bold r:id="rId9"/>
      <p:italic r:id="rId10"/>
      <p:boldItalic r:id="rId11"/>
    </p:embeddedFont>
    <p:embeddedFont>
      <p:font typeface="Century Schoolbook" pitchFamily="18" charset="0"/>
      <p:regular r:id="rId12"/>
      <p:bold r:id="rId13"/>
      <p:italic r:id="rId14"/>
      <p:boldItalic r:id="rId15"/>
    </p:embeddedFont>
    <p:embeddedFont>
      <p:font typeface="Agency FB" pitchFamily="3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8011"/>
    <a:srgbClr val="FF9900"/>
    <a:srgbClr val="FF66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9905C9B-49D1-48F4-A834-88001639549E}">
  <a:tblStyle styleId="{59905C9B-49D1-48F4-A834-8800163954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-562" y="-7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Book1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Book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GB"/>
  <c:roundedCorners val="1"/>
  <c:chart>
    <c:title>
      <c:layout/>
      <c:overlay val="1"/>
      <c:txPr>
        <a:bodyPr/>
        <a:lstStyle/>
        <a:p>
          <a:pPr>
            <a:defRPr lang="en-US"/>
          </a:pPr>
          <a:endParaRPr lang="en-US"/>
        </a:p>
      </c:txPr>
    </c:title>
    <c:plotArea>
      <c:layout/>
      <c:doughnutChart>
        <c:varyColors val="1"/>
        <c:ser>
          <c:idx val="0"/>
          <c:order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lang="en-US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1"/>
            <c:showVal val="1"/>
            <c:showCatName val="1"/>
            <c:showSerName val="1"/>
            <c:showPercent val="1"/>
            <c:showBubbleSize val="1"/>
            <c:showLeaderLines val="1"/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val>
            <c:numRef>
              <c:f>[Book1]Sheet1!$T$11:$T$16</c:f>
              <c:numCache>
                <c:formatCode>0%</c:formatCode>
                <c:ptCount val="6"/>
                <c:pt idx="0">
                  <c:v>0.15000000000000011</c:v>
                </c:pt>
                <c:pt idx="1">
                  <c:v>0.15000000000000011</c:v>
                </c:pt>
                <c:pt idx="2">
                  <c:v>0.2</c:v>
                </c:pt>
                <c:pt idx="3">
                  <c:v>0.2</c:v>
                </c:pt>
                <c:pt idx="4">
                  <c:v>0.15000000000000011</c:v>
                </c:pt>
                <c:pt idx="5">
                  <c:v>0.15000000000000011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06C6-4807-A316-36A840D99D2A}"/>
            </c:ext>
          </c:extLst>
        </c:ser>
        <c:dLbls>
          <c:showLegendKey val="1"/>
          <c:showVal val="1"/>
          <c:showCatName val="1"/>
          <c:showSerName val="1"/>
          <c:showPercent val="1"/>
          <c:showBubbleSize val="1"/>
        </c:dLbls>
        <c:firstSliceAng val="0"/>
        <c:holeSize val="50"/>
      </c:doughnutChart>
    </c:plotArea>
    <c:legend>
      <c:legendPos val="r"/>
      <c:layout/>
      <c:overlay val="1"/>
      <c:txPr>
        <a:bodyPr/>
        <a:lstStyle/>
        <a:p>
          <a:pPr rtl="0">
            <a:defRPr lang="en-US"/>
          </a:pPr>
          <a:endParaRPr lang="en-US"/>
        </a:p>
      </c:txPr>
    </c:legend>
    <c:plotVisOnly val="1"/>
    <c:dispBlanksAs val="zero"/>
    <c:showDLblsOverMax val="1"/>
  </c:chart>
  <c:externalData r:id="rId1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GB"/>
  <c:roundedCorners val="1"/>
  <c:chart>
    <c:title>
      <c:layout/>
      <c:overlay val="1"/>
      <c:txPr>
        <a:bodyPr/>
        <a:lstStyle/>
        <a:p>
          <a:pPr>
            <a:defRPr lang="en-US"/>
          </a:pPr>
          <a:endParaRPr lang="en-US"/>
        </a:p>
      </c:txPr>
    </c:title>
    <c:plotArea>
      <c:layout/>
      <c:doughnutChart>
        <c:varyColors val="1"/>
        <c:ser>
          <c:idx val="0"/>
          <c:order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lang="en-US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1"/>
            <c:showVal val="1"/>
            <c:showCatName val="1"/>
            <c:showSerName val="1"/>
            <c:showPercent val="1"/>
            <c:showBubbleSize val="1"/>
            <c:showLeaderLines val="1"/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val>
            <c:numRef>
              <c:f>[Book1]Sheet1!$O$8:$O$13</c:f>
              <c:numCache>
                <c:formatCode>0%</c:formatCode>
                <c:ptCount val="6"/>
                <c:pt idx="0">
                  <c:v>0.2</c:v>
                </c:pt>
                <c:pt idx="1">
                  <c:v>0.2</c:v>
                </c:pt>
                <c:pt idx="2">
                  <c:v>0.25</c:v>
                </c:pt>
                <c:pt idx="3">
                  <c:v>0.1</c:v>
                </c:pt>
                <c:pt idx="4">
                  <c:v>0.1</c:v>
                </c:pt>
                <c:pt idx="5">
                  <c:v>0.15000000000000011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9D50-4BDB-9B34-CC376F2B513E}"/>
            </c:ext>
          </c:extLst>
        </c:ser>
        <c:dLbls>
          <c:showLegendKey val="1"/>
          <c:showVal val="1"/>
          <c:showCatName val="1"/>
          <c:showSerName val="1"/>
          <c:showPercent val="1"/>
          <c:showBubbleSize val="1"/>
        </c:dLbls>
        <c:firstSliceAng val="0"/>
        <c:holeSize val="50"/>
      </c:doughnutChart>
    </c:plotArea>
    <c:legend>
      <c:legendPos val="r"/>
      <c:layout/>
      <c:overlay val="1"/>
      <c:txPr>
        <a:bodyPr/>
        <a:lstStyle/>
        <a:p>
          <a:pPr rtl="0">
            <a:defRPr lang="en-US"/>
          </a:pPr>
          <a:endParaRPr lang="en-US"/>
        </a:p>
      </c:txPr>
    </c:legend>
    <c:plotVisOnly val="1"/>
    <c:dispBlanksAs val="zero"/>
    <c:showDLblsOverMax val="1"/>
  </c:chart>
  <c:externalData r:id="rId1">
    <c:autoUpdate val="1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-55075" y="-38100"/>
            <a:ext cx="3312625" cy="5214650"/>
          </a:xfrm>
          <a:custGeom>
            <a:avLst/>
            <a:gdLst/>
            <a:ahLst/>
            <a:cxnLst/>
            <a:rect l="l" t="t" r="r" b="b"/>
            <a:pathLst>
              <a:path w="132505" h="208586" extrusionOk="0">
                <a:moveTo>
                  <a:pt x="132505" y="207264"/>
                </a:moveTo>
                <a:lnTo>
                  <a:pt x="25063" y="0"/>
                </a:lnTo>
                <a:lnTo>
                  <a:pt x="0" y="202"/>
                </a:lnTo>
                <a:lnTo>
                  <a:pt x="1322" y="208586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</p:sp>
      <p:sp>
        <p:nvSpPr>
          <p:cNvPr id="42" name="Google Shape;42;p6"/>
          <p:cNvSpPr/>
          <p:nvPr/>
        </p:nvSpPr>
        <p:spPr>
          <a:xfrm flipH="1">
            <a:off x="-903537" y="-17561"/>
            <a:ext cx="1759200" cy="749100"/>
          </a:xfrm>
          <a:prstGeom prst="parallelogram">
            <a:avLst>
              <a:gd name="adj" fmla="val 51542"/>
            </a:avLst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6"/>
          <p:cNvSpPr/>
          <p:nvPr/>
        </p:nvSpPr>
        <p:spPr>
          <a:xfrm flipH="1">
            <a:off x="472134" y="-9525"/>
            <a:ext cx="518400" cy="749100"/>
          </a:xfrm>
          <a:prstGeom prst="parallelogram">
            <a:avLst>
              <a:gd name="adj" fmla="val 75009"/>
            </a:avLst>
          </a:prstGeom>
          <a:solidFill>
            <a:srgbClr val="FF87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6"/>
          <p:cNvSpPr/>
          <p:nvPr/>
        </p:nvSpPr>
        <p:spPr>
          <a:xfrm flipH="1">
            <a:off x="742953" y="272850"/>
            <a:ext cx="7505700" cy="749100"/>
          </a:xfrm>
          <a:prstGeom prst="parallelogram">
            <a:avLst>
              <a:gd name="adj" fmla="val 51542"/>
            </a:avLst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6"/>
          <p:cNvSpPr/>
          <p:nvPr/>
        </p:nvSpPr>
        <p:spPr>
          <a:xfrm flipH="1">
            <a:off x="7861618" y="272850"/>
            <a:ext cx="1759200" cy="749100"/>
          </a:xfrm>
          <a:prstGeom prst="parallelogram">
            <a:avLst>
              <a:gd name="adj" fmla="val 51542"/>
            </a:avLst>
          </a:prstGeom>
          <a:solidFill>
            <a:srgbClr val="FF87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title"/>
          </p:nvPr>
        </p:nvSpPr>
        <p:spPr>
          <a:xfrm>
            <a:off x="1101386" y="272850"/>
            <a:ext cx="6213814" cy="74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1"/>
          </p:nvPr>
        </p:nvSpPr>
        <p:spPr>
          <a:xfrm>
            <a:off x="1101375" y="1311550"/>
            <a:ext cx="3681900" cy="3537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93700">
              <a:spcBef>
                <a:spcPts val="600"/>
              </a:spcBef>
              <a:spcAft>
                <a:spcPts val="0"/>
              </a:spcAft>
              <a:buSzPts val="2600"/>
              <a:buChar char="▸"/>
              <a:defRPr sz="2600"/>
            </a:lvl1pPr>
            <a:lvl2pPr marL="914400" lvl="1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2pPr>
            <a:lvl3pPr marL="1371600" lvl="2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3pPr>
            <a:lvl4pPr marL="1828800" lvl="3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4pPr>
            <a:lvl5pPr marL="2286000" lvl="4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5pPr>
            <a:lvl6pPr marL="2743200" lvl="5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6pPr>
            <a:lvl7pPr marL="3200400" lvl="6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7pPr>
            <a:lvl8pPr marL="3657600" lvl="7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8pPr>
            <a:lvl9pPr marL="4114800" lvl="8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2"/>
          </p:nvPr>
        </p:nvSpPr>
        <p:spPr>
          <a:xfrm>
            <a:off x="5004949" y="1311550"/>
            <a:ext cx="3681900" cy="3537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93700">
              <a:spcBef>
                <a:spcPts val="600"/>
              </a:spcBef>
              <a:spcAft>
                <a:spcPts val="0"/>
              </a:spcAft>
              <a:buSzPts val="2600"/>
              <a:buChar char="▸"/>
              <a:defRPr sz="2600"/>
            </a:lvl1pPr>
            <a:lvl2pPr marL="914400" lvl="1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2pPr>
            <a:lvl3pPr marL="1371600" lvl="2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3pPr>
            <a:lvl4pPr marL="1828800" lvl="3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4pPr>
            <a:lvl5pPr marL="2286000" lvl="4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5pPr>
            <a:lvl6pPr marL="2743200" lvl="5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6pPr>
            <a:lvl7pPr marL="3200400" lvl="6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7pPr>
            <a:lvl8pPr marL="3657600" lvl="7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8pPr>
            <a:lvl9pPr marL="4114800" lvl="8" indent="-393700">
              <a:spcBef>
                <a:spcPts val="0"/>
              </a:spcBef>
              <a:spcAft>
                <a:spcPts val="0"/>
              </a:spcAft>
              <a:buSzPts val="2600"/>
              <a:buChar char="▹"/>
              <a:defRPr sz="2600"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13" name="Google Shape;36;p5"/>
          <p:cNvSpPr/>
          <p:nvPr userDrawn="1"/>
        </p:nvSpPr>
        <p:spPr>
          <a:xfrm flipH="1">
            <a:off x="381000" y="4925850"/>
            <a:ext cx="8369700" cy="228000"/>
          </a:xfrm>
          <a:prstGeom prst="parallelogram">
            <a:avLst>
              <a:gd name="adj" fmla="val 51542"/>
            </a:avLst>
          </a:prstGeom>
          <a:solidFill>
            <a:srgbClr val="FF87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WWW.BERKELEYME.ORG</a:t>
            </a:r>
          </a:p>
        </p:txBody>
      </p:sp>
      <p:pic>
        <p:nvPicPr>
          <p:cNvPr id="14" name="Picture 13" descr="Berkeleyme_School_MS_Logo_Presentations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64401" y="372111"/>
            <a:ext cx="1828800" cy="5486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/>
          <p:nvPr/>
        </p:nvSpPr>
        <p:spPr>
          <a:xfrm>
            <a:off x="-55075" y="-38100"/>
            <a:ext cx="3312625" cy="5214650"/>
          </a:xfrm>
          <a:custGeom>
            <a:avLst/>
            <a:gdLst/>
            <a:ahLst/>
            <a:cxnLst/>
            <a:rect l="l" t="t" r="r" b="b"/>
            <a:pathLst>
              <a:path w="132505" h="208586" extrusionOk="0">
                <a:moveTo>
                  <a:pt x="132505" y="207264"/>
                </a:moveTo>
                <a:lnTo>
                  <a:pt x="25063" y="0"/>
                </a:lnTo>
                <a:lnTo>
                  <a:pt x="0" y="202"/>
                </a:lnTo>
                <a:lnTo>
                  <a:pt x="1322" y="208586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</p:sp>
      <p:sp>
        <p:nvSpPr>
          <p:cNvPr id="83" name="Google Shape;83;p10"/>
          <p:cNvSpPr/>
          <p:nvPr/>
        </p:nvSpPr>
        <p:spPr>
          <a:xfrm flipH="1">
            <a:off x="742953" y="4406300"/>
            <a:ext cx="7505700" cy="749100"/>
          </a:xfrm>
          <a:prstGeom prst="parallelogram">
            <a:avLst>
              <a:gd name="adj" fmla="val 51542"/>
            </a:avLst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0"/>
          <p:cNvSpPr/>
          <p:nvPr/>
        </p:nvSpPr>
        <p:spPr>
          <a:xfrm flipH="1">
            <a:off x="7861618" y="4406300"/>
            <a:ext cx="1759200" cy="749100"/>
          </a:xfrm>
          <a:prstGeom prst="parallelogram">
            <a:avLst>
              <a:gd name="adj" fmla="val 51542"/>
            </a:avLst>
          </a:prstGeom>
          <a:solidFill>
            <a:srgbClr val="FF87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0"/>
          <p:cNvSpPr/>
          <p:nvPr/>
        </p:nvSpPr>
        <p:spPr>
          <a:xfrm flipH="1">
            <a:off x="-903537" y="-17561"/>
            <a:ext cx="1759200" cy="749100"/>
          </a:xfrm>
          <a:prstGeom prst="parallelogram">
            <a:avLst>
              <a:gd name="adj" fmla="val 51542"/>
            </a:avLst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0"/>
          <p:cNvSpPr/>
          <p:nvPr/>
        </p:nvSpPr>
        <p:spPr>
          <a:xfrm flipH="1">
            <a:off x="472134" y="-9525"/>
            <a:ext cx="518400" cy="749100"/>
          </a:xfrm>
          <a:prstGeom prst="parallelogram">
            <a:avLst>
              <a:gd name="adj" fmla="val 75009"/>
            </a:avLst>
          </a:prstGeom>
          <a:solidFill>
            <a:srgbClr val="FF87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0"/>
          <p:cNvSpPr txBox="1">
            <a:spLocks noGrp="1"/>
          </p:cNvSpPr>
          <p:nvPr>
            <p:ph type="body" idx="1"/>
          </p:nvPr>
        </p:nvSpPr>
        <p:spPr>
          <a:xfrm>
            <a:off x="1123950" y="4406300"/>
            <a:ext cx="6737400" cy="74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1pPr>
          </a:lstStyle>
          <a:p>
            <a:endParaRPr/>
          </a:p>
        </p:txBody>
      </p:sp>
      <p:sp>
        <p:nvSpPr>
          <p:cNvPr id="88" name="Google Shape;88;p1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10" name="Picture 9" descr="Berkeleyme_School_MS_Logo_Presentations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96665" y="133350"/>
            <a:ext cx="1828800" cy="5486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3672146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noProof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D75086F1-E157-4A98-93DB-478F34A1158E}"/>
              </a:ext>
            </a:extLst>
          </p:cNvPr>
          <p:cNvCxnSpPr/>
          <p:nvPr userDrawn="1"/>
        </p:nvCxnSpPr>
        <p:spPr>
          <a:xfrm>
            <a:off x="57150" y="4649798"/>
            <a:ext cx="337185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2654DA9A-F01A-481E-A192-F11CA07CCE3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438150"/>
            <a:ext cx="3126191" cy="1566667"/>
          </a:xfrm>
        </p:spPr>
        <p:txBody>
          <a:bodyPr>
            <a:noAutofit/>
          </a:bodyPr>
          <a:lstStyle>
            <a:lvl1pPr algn="r">
              <a:lnSpc>
                <a:spcPct val="100000"/>
              </a:lnSpc>
              <a:defRPr sz="3200" i="1">
                <a:solidFill>
                  <a:srgbClr val="FFC000"/>
                </a:solidFill>
                <a:latin typeface="Agency FB" pitchFamily="34" charset="0"/>
                <a:cs typeface="Times New Roman" pitchFamily="18" charset="0"/>
              </a:defRPr>
            </a:lvl1pPr>
          </a:lstStyle>
          <a:p>
            <a:endParaRPr lang="en-US" sz="3300" dirty="0">
              <a:solidFill>
                <a:srgbClr val="FFC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Google Shape;36;p5"/>
          <p:cNvSpPr/>
          <p:nvPr userDrawn="1"/>
        </p:nvSpPr>
        <p:spPr>
          <a:xfrm flipH="1">
            <a:off x="381000" y="4925850"/>
            <a:ext cx="8369700" cy="228000"/>
          </a:xfrm>
          <a:prstGeom prst="parallelogram">
            <a:avLst>
              <a:gd name="adj" fmla="val 51542"/>
            </a:avLst>
          </a:prstGeom>
          <a:solidFill>
            <a:srgbClr val="FF87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WWW.BERKELEYME.ORG</a:t>
            </a:r>
          </a:p>
        </p:txBody>
      </p:sp>
      <p:sp>
        <p:nvSpPr>
          <p:cNvPr id="13" name="Google Shape;100;p12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10" name="Picture 9" descr="Berkeleyme_School_MS_Logo_Presentations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96665" y="133350"/>
            <a:ext cx="182880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60519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104900" y="276075"/>
            <a:ext cx="6724500" cy="7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Dosis"/>
              <a:buNone/>
              <a:defRPr sz="24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Dosis"/>
              <a:buNone/>
              <a:defRPr sz="24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Dosis"/>
              <a:buNone/>
              <a:defRPr sz="24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Dosis"/>
              <a:buNone/>
              <a:defRPr sz="24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Dosis"/>
              <a:buNone/>
              <a:defRPr sz="24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Dosis"/>
              <a:buNone/>
              <a:defRPr sz="24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Dosis"/>
              <a:buNone/>
              <a:defRPr sz="24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Dosis"/>
              <a:buNone/>
              <a:defRPr sz="24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Dosis"/>
              <a:buNone/>
              <a:defRPr sz="24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104900" y="1200150"/>
            <a:ext cx="75819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rgbClr val="FF8700"/>
              </a:buClr>
              <a:buSzPts val="3000"/>
              <a:buFont typeface="Roboto"/>
              <a:buChar char="▸"/>
              <a:defRPr sz="30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rgbClr val="FF8700"/>
              </a:buClr>
              <a:buSzPts val="2400"/>
              <a:buFont typeface="Roboto"/>
              <a:buChar char="▹"/>
              <a:defRPr sz="24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rgbClr val="FF8700"/>
              </a:buClr>
              <a:buSzPts val="2400"/>
              <a:buFont typeface="Roboto"/>
              <a:buChar char="▹"/>
              <a:defRPr sz="24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rgbClr val="FF8700"/>
              </a:buClr>
              <a:buSzPts val="1800"/>
              <a:buFont typeface="Roboto"/>
              <a:buChar char="▹"/>
              <a:defRPr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rgbClr val="FF8700"/>
              </a:buClr>
              <a:buSzPts val="1800"/>
              <a:buFont typeface="Roboto"/>
              <a:buChar char="▹"/>
              <a:defRPr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rgbClr val="FF8700"/>
              </a:buClr>
              <a:buSzPts val="1800"/>
              <a:buFont typeface="Roboto"/>
              <a:buChar char="▹"/>
              <a:defRPr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rgbClr val="FF8700"/>
              </a:buClr>
              <a:buSzPts val="1800"/>
              <a:buFont typeface="Roboto"/>
              <a:buChar char="▹"/>
              <a:defRPr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rgbClr val="FF8700"/>
              </a:buClr>
              <a:buSzPts val="1800"/>
              <a:buFont typeface="Roboto"/>
              <a:buChar char="▹"/>
              <a:defRPr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rgbClr val="FF8700"/>
              </a:buClr>
              <a:buSzPts val="1800"/>
              <a:buFont typeface="Roboto"/>
              <a:buChar char="▹"/>
              <a:defRPr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59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 sz="13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buNone/>
              <a:defRPr sz="13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buNone/>
              <a:defRPr sz="13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buNone/>
              <a:defRPr sz="13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buNone/>
              <a:defRPr sz="13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buNone/>
              <a:defRPr sz="13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buNone/>
              <a:defRPr sz="13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buNone/>
              <a:defRPr sz="13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buNone/>
              <a:defRPr sz="13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6" r:id="rId2"/>
    <p:sldLayoutId id="2147483662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>
            <a:spLocks noGrp="1"/>
          </p:cNvSpPr>
          <p:nvPr>
            <p:ph type="title"/>
          </p:nvPr>
        </p:nvSpPr>
        <p:spPr>
          <a:xfrm>
            <a:off x="1101386" y="272850"/>
            <a:ext cx="7574400" cy="74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indent="-342900" eaLnBrk="1" hangingPunct="1"/>
            <a:r>
              <a:rPr lang="en-US" b="1" dirty="0">
                <a:latin typeface="Dosis" charset="0"/>
                <a:cs typeface="Times New Roman" pitchFamily="18" charset="0"/>
              </a:rPr>
              <a:t>WHAT IS THE PROGRAM STRUCTURE?</a:t>
            </a:r>
          </a:p>
        </p:txBody>
      </p:sp>
      <p:sp>
        <p:nvSpPr>
          <p:cNvPr id="114" name="Google Shape;114;p14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594900" cy="73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219200" y="1428750"/>
          <a:ext cx="6934200" cy="2855876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170662">
                <a:tc>
                  <a:txBody>
                    <a:bodyPr/>
                    <a:lstStyle/>
                    <a:p>
                      <a:pPr lvl="0" algn="ctr" rtl="0"/>
                      <a:r>
                        <a:rPr lang="en-GB" sz="2000" b="1" dirty="0">
                          <a:latin typeface="Times New Roman" pitchFamily="18" charset="0"/>
                          <a:cs typeface="Times New Roman" pitchFamily="18" charset="0"/>
                        </a:rPr>
                        <a:t>Part 1: Financial Planning, Performance and Control</a:t>
                      </a:r>
                      <a:endParaRPr lang="en-US" sz="20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929" marR="12929" marT="12929" marB="12929" anchor="ctr"/>
                </a:tc>
                <a:tc>
                  <a:txBody>
                    <a:bodyPr/>
                    <a:lstStyle/>
                    <a:p>
                      <a:pPr lvl="0" algn="ctr" rtl="0"/>
                      <a:r>
                        <a:rPr lang="en-GB" sz="2000" b="1" dirty="0">
                          <a:latin typeface="Times New Roman" pitchFamily="18" charset="0"/>
                          <a:cs typeface="Times New Roman" pitchFamily="18" charset="0"/>
                        </a:rPr>
                        <a:t>Part 2: Strategic Financial</a:t>
                      </a:r>
                      <a:r>
                        <a:rPr lang="en-GB" sz="2000" b="1" baseline="0" dirty="0">
                          <a:latin typeface="Times New Roman" pitchFamily="18" charset="0"/>
                          <a:cs typeface="Times New Roman" pitchFamily="18" charset="0"/>
                        </a:rPr>
                        <a:t> Management</a:t>
                      </a:r>
                      <a:r>
                        <a:rPr lang="en-GB" sz="2000" b="1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12929" marR="12929" marT="12929" marB="12929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94683">
                <a:tc>
                  <a:txBody>
                    <a:bodyPr/>
                    <a:lstStyle/>
                    <a:p>
                      <a:pPr>
                        <a:buClr>
                          <a:srgbClr val="EF8011"/>
                        </a:buClr>
                        <a:buSzPct val="150000"/>
                        <a:buFont typeface="Times New Roman" pitchFamily="18" charset="0"/>
                        <a:buChar char="‣"/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External Financial Reporting Decisions (15%)</a:t>
                      </a:r>
                    </a:p>
                    <a:p>
                      <a:pPr>
                        <a:buClr>
                          <a:srgbClr val="EF8011"/>
                        </a:buClr>
                        <a:buSzPct val="150000"/>
                        <a:buFont typeface="Times New Roman" pitchFamily="18" charset="0"/>
                        <a:buChar char="‣"/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Cost Management (15%)</a:t>
                      </a:r>
                    </a:p>
                    <a:p>
                      <a:pPr>
                        <a:buClr>
                          <a:srgbClr val="EF8011"/>
                        </a:buClr>
                        <a:buSzPct val="150000"/>
                        <a:buFont typeface="Times New Roman" pitchFamily="18" charset="0"/>
                        <a:buChar char="‣"/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Performance Management (20%)</a:t>
                      </a:r>
                    </a:p>
                    <a:p>
                      <a:pPr>
                        <a:buClr>
                          <a:srgbClr val="EF8011"/>
                        </a:buClr>
                        <a:buSzPct val="150000"/>
                        <a:buFont typeface="Times New Roman" pitchFamily="18" charset="0"/>
                        <a:buChar char="‣"/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Planning, Budgeting and Forecasting (20%)</a:t>
                      </a:r>
                    </a:p>
                    <a:p>
                      <a:pPr>
                        <a:buClr>
                          <a:srgbClr val="EF8011"/>
                        </a:buClr>
                        <a:buSzPct val="150000"/>
                        <a:buFont typeface="Times New Roman" pitchFamily="18" charset="0"/>
                        <a:buChar char="‣"/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Internal Controls (15%)</a:t>
                      </a:r>
                    </a:p>
                    <a:p>
                      <a:pPr>
                        <a:buClr>
                          <a:srgbClr val="EF8011"/>
                        </a:buClr>
                        <a:buSzPct val="150000"/>
                        <a:buFont typeface="Times New Roman" pitchFamily="18" charset="0"/>
                        <a:buChar char="‣"/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Technology and Analytics (15%)</a:t>
                      </a:r>
                    </a:p>
                  </a:txBody>
                  <a:tcPr marL="12929" marR="12929" marT="12929" marB="12929"/>
                </a:tc>
                <a:tc>
                  <a:txBody>
                    <a:bodyPr/>
                    <a:lstStyle/>
                    <a:p>
                      <a:pPr>
                        <a:buClr>
                          <a:srgbClr val="EF8011"/>
                        </a:buClr>
                        <a:buSzPct val="150000"/>
                        <a:buFont typeface="Times New Roman" pitchFamily="18" charset="0"/>
                        <a:buChar char="‣"/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Financial Statement Analysis (20%)</a:t>
                      </a:r>
                    </a:p>
                    <a:p>
                      <a:pPr>
                        <a:buClr>
                          <a:srgbClr val="EF8011"/>
                        </a:buClr>
                        <a:buSzPct val="150000"/>
                        <a:buFont typeface="Times New Roman" pitchFamily="18" charset="0"/>
                        <a:buChar char="‣"/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Corporate Finance (20%)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8011"/>
                        </a:buClr>
                        <a:buSzPct val="150000"/>
                        <a:buFont typeface="Times New Roman" pitchFamily="18" charset="0"/>
                        <a:buChar char="‣"/>
                        <a:tabLst/>
                        <a:defRPr/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Decision Analysis (25%)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8011"/>
                        </a:buClr>
                        <a:buSzPct val="150000"/>
                        <a:buFont typeface="Times New Roman" pitchFamily="18" charset="0"/>
                        <a:buChar char="‣"/>
                        <a:tabLst/>
                        <a:defRPr/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Risk Management (10%)</a:t>
                      </a:r>
                    </a:p>
                    <a:p>
                      <a:pPr>
                        <a:buClr>
                          <a:srgbClr val="EF8011"/>
                        </a:buClr>
                        <a:buSzPct val="150000"/>
                        <a:buFont typeface="Times New Roman" pitchFamily="18" charset="0"/>
                        <a:buChar char="‣"/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Investment Decisions (10%)</a:t>
                      </a:r>
                    </a:p>
                    <a:p>
                      <a:pPr>
                        <a:buClr>
                          <a:srgbClr val="EF8011"/>
                        </a:buClr>
                        <a:buSzPct val="150000"/>
                        <a:buFont typeface="Times New Roman" pitchFamily="18" charset="0"/>
                        <a:buChar char="‣"/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Professional Ethics (15%)</a:t>
                      </a:r>
                    </a:p>
                  </a:txBody>
                  <a:tcPr marL="12929" marR="12929" marT="12929" marB="12929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Chart" descr="Circular chart">
            <a:extLst>
              <a:ext uri="{FF2B5EF4-FFF2-40B4-BE49-F238E27FC236}">
                <a16:creationId xmlns:a16="http://schemas.microsoft.com/office/drawing/2014/main" xmlns="" id="{19C74561-78D1-4CF9-A43E-B1BCFD99B887}"/>
              </a:ext>
            </a:extLst>
          </p:cNvPr>
          <p:cNvGraphicFramePr>
            <a:graphicFrameLocks/>
          </p:cNvGraphicFramePr>
          <p:nvPr/>
        </p:nvGraphicFramePr>
        <p:xfrm>
          <a:off x="100558" y="1432259"/>
          <a:ext cx="3388131" cy="34816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5BBBD63-2027-48EB-A649-F9C1B4BC76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13D2E340-0663-474B-992C-9192B5C45E57}" type="slidenum">
              <a:rPr lang="en-US" sz="900" b="0" i="1" kern="1200" smtClean="0">
                <a:solidFill>
                  <a:srgbClr val="F5F5F5"/>
                </a:solidFill>
                <a:latin typeface="Century Schoolbook" panose="02040604050505020304"/>
                <a:ea typeface="+mn-ea"/>
                <a:cs typeface="Arial" charset="0"/>
              </a:rPr>
              <a:pPr algn="r" defTabSz="685800">
                <a:buClrTx/>
                <a:defRPr/>
              </a:pPr>
              <a:t>2</a:t>
            </a:fld>
            <a:endParaRPr lang="en-US" sz="900" b="0" i="1" kern="1200" dirty="0">
              <a:solidFill>
                <a:srgbClr val="F5F5F5"/>
              </a:solidFill>
              <a:latin typeface="Century Schoolbook" panose="02040604050505020304"/>
              <a:ea typeface="+mn-ea"/>
              <a:cs typeface="Arial" charset="0"/>
            </a:endParaRP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xmlns="" id="{6DCC875B-FB79-4EB2-ACC0-A26593F489C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160338"/>
            <a:ext cx="3322638" cy="911225"/>
          </a:xfrm>
        </p:spPr>
        <p:txBody>
          <a:bodyPr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CMA Part 1:</a:t>
            </a:r>
          </a:p>
          <a:p>
            <a:pPr algn="ctr">
              <a:spcBef>
                <a:spcPts val="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Financial Planning, </a:t>
            </a:r>
          </a:p>
          <a:p>
            <a:pPr algn="ctr">
              <a:spcBef>
                <a:spcPts val="0"/>
              </a:spcBef>
              <a:buNone/>
            </a:pPr>
            <a:r>
              <a:rPr lang="en-US" sz="1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Performance and Analytics</a:t>
            </a:r>
          </a:p>
        </p:txBody>
      </p:sp>
      <p:grpSp>
        <p:nvGrpSpPr>
          <p:cNvPr id="2" name="Group 25"/>
          <p:cNvGrpSpPr/>
          <p:nvPr/>
        </p:nvGrpSpPr>
        <p:grpSpPr>
          <a:xfrm>
            <a:off x="3875478" y="683684"/>
            <a:ext cx="5114918" cy="4439114"/>
            <a:chOff x="5238743" y="500042"/>
            <a:chExt cx="6819891" cy="5918818"/>
          </a:xfrm>
        </p:grpSpPr>
        <p:sp>
          <p:nvSpPr>
            <p:cNvPr id="27" name="Content Placeholder 3">
              <a:extLst>
                <a:ext uri="{FF2B5EF4-FFF2-40B4-BE49-F238E27FC236}">
                  <a16:creationId xmlns:a16="http://schemas.microsoft.com/office/drawing/2014/main" xmlns="" id="{52ACB615-64CF-4226-B7EB-A7D9E8A800A2}"/>
                </a:ext>
              </a:extLst>
            </p:cNvPr>
            <p:cNvSpPr txBox="1">
              <a:spLocks/>
            </p:cNvSpPr>
            <p:nvPr/>
          </p:nvSpPr>
          <p:spPr>
            <a:xfrm>
              <a:off x="5238744" y="1043701"/>
              <a:ext cx="3163895" cy="1571636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defTabSz="685800" fontAlgn="ctr">
                <a:lnSpc>
                  <a:spcPct val="112000"/>
                </a:lnSpc>
                <a:buClrTx/>
                <a:buSzPts val="1400"/>
                <a:defRPr/>
              </a:pPr>
              <a:r>
                <a:rPr lang="en-US" sz="1000" b="1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Unit 1: </a:t>
              </a:r>
              <a:r>
                <a:rPr lang="en-US" sz="1000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External Financial Statements</a:t>
              </a:r>
              <a:endParaRPr lang="en-GB" sz="1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  <a:p>
              <a:pPr marL="109728" indent="-137160" defTabSz="685800" fontAlgn="ctr">
                <a:lnSpc>
                  <a:spcPct val="112000"/>
                </a:lnSpc>
                <a:buClrTx/>
                <a:defRPr/>
              </a:pPr>
              <a:r>
                <a:rPr lang="en-US" sz="1000" b="1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Unit 2:</a:t>
              </a:r>
              <a:r>
                <a:rPr lang="en-US" sz="1000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 Measurement, Valuation and Disclosure: Assets -- Short Term Items</a:t>
              </a:r>
              <a:endParaRPr lang="en-GB" sz="1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  <a:p>
              <a:pPr marL="109728" indent="-137160" defTabSz="685800" fontAlgn="ctr">
                <a:lnSpc>
                  <a:spcPct val="112000"/>
                </a:lnSpc>
                <a:buClrTx/>
                <a:defRPr/>
              </a:pPr>
              <a:r>
                <a:rPr lang="en-US" sz="1000" b="1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Unit 3: </a:t>
              </a:r>
              <a:r>
                <a:rPr lang="en-US" sz="1000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Measurement, Valuation and Disclosure: Assets -- Long Term Items</a:t>
              </a:r>
              <a:endParaRPr lang="en-GB" sz="1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  <a:p>
              <a:pPr marL="109728" indent="-137160" defTabSz="685800" fontAlgn="ctr">
                <a:lnSpc>
                  <a:spcPct val="112000"/>
                </a:lnSpc>
                <a:buClrTx/>
                <a:defRPr/>
              </a:pPr>
              <a:r>
                <a:rPr lang="en-US" sz="1000" b="1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Unit 4:</a:t>
              </a:r>
              <a:r>
                <a:rPr lang="en-US" sz="1000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 Measurement, Valuation and Disclosure: Liabilities</a:t>
              </a:r>
              <a:endParaRPr lang="en-GB" sz="1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  <a:p>
              <a:pPr marL="109728" indent="-137160" defTabSz="685800" fontAlgn="ctr">
                <a:lnSpc>
                  <a:spcPct val="112000"/>
                </a:lnSpc>
                <a:buClrTx/>
                <a:defRPr/>
              </a:pPr>
              <a:r>
                <a:rPr lang="en-US" sz="1000" b="1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Unit 5: </a:t>
              </a:r>
              <a:r>
                <a:rPr lang="en-US" sz="1000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Revenue and Impairment Recognition</a:t>
              </a:r>
              <a:endParaRPr lang="en-GB" sz="1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  <a:p>
              <a:pPr marL="109728" indent="-137160" defTabSz="685800" fontAlgn="ctr">
                <a:lnSpc>
                  <a:spcPct val="112000"/>
                </a:lnSpc>
                <a:buClrTx/>
                <a:defRPr/>
              </a:pPr>
              <a:r>
                <a:rPr lang="en-US" sz="1000" b="1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Unit 6: </a:t>
              </a:r>
              <a:r>
                <a:rPr lang="en-US" sz="1000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Integrated Reporting</a:t>
              </a:r>
              <a:endParaRPr lang="en-GB" sz="1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28" name="Text Placeholder 4">
              <a:extLst>
                <a:ext uri="{FF2B5EF4-FFF2-40B4-BE49-F238E27FC236}">
                  <a16:creationId xmlns:a16="http://schemas.microsoft.com/office/drawing/2014/main" xmlns="" id="{7CC704F7-10A3-438C-BF49-21B39AA5FD1F}"/>
                </a:ext>
              </a:extLst>
            </p:cNvPr>
            <p:cNvSpPr txBox="1">
              <a:spLocks/>
            </p:cNvSpPr>
            <p:nvPr/>
          </p:nvSpPr>
          <p:spPr>
            <a:xfrm>
              <a:off x="5238744" y="3595502"/>
              <a:ext cx="3062295" cy="1071571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defTabSz="685800" fontAlgn="ctr">
                <a:lnSpc>
                  <a:spcPct val="112000"/>
                </a:lnSpc>
                <a:buClrTx/>
                <a:buSzPts val="1400"/>
                <a:defRPr/>
              </a:pPr>
              <a:r>
                <a:rPr lang="en-US" sz="1000" b="1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Unit 7: </a:t>
              </a:r>
              <a:r>
                <a:rPr lang="en-US" sz="1000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Cost Management Concepts </a:t>
              </a:r>
              <a:endParaRPr lang="en-GB" sz="1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  <a:p>
              <a:pPr marL="109728" indent="-137160" defTabSz="685800" fontAlgn="ctr">
                <a:lnSpc>
                  <a:spcPct val="112000"/>
                </a:lnSpc>
                <a:buClrTx/>
                <a:defRPr/>
              </a:pPr>
              <a:r>
                <a:rPr lang="en-US" sz="1000" b="1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Unit 8: </a:t>
              </a:r>
              <a:r>
                <a:rPr lang="en-US" sz="1000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Cost Accumulation Systems </a:t>
              </a:r>
              <a:endParaRPr lang="en-GB" sz="1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  <a:p>
              <a:pPr marL="109728" indent="-137160" defTabSz="685800" fontAlgn="ctr">
                <a:lnSpc>
                  <a:spcPct val="112000"/>
                </a:lnSpc>
                <a:buClrTx/>
                <a:defRPr/>
              </a:pPr>
              <a:r>
                <a:rPr lang="en-US" sz="1000" b="1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Unit 9: </a:t>
              </a:r>
              <a:r>
                <a:rPr lang="en-US" sz="1000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Cost Allocation Techniques</a:t>
              </a:r>
            </a:p>
            <a:p>
              <a:pPr marL="109728" indent="-137160" defTabSz="685800" fontAlgn="ctr">
                <a:lnSpc>
                  <a:spcPct val="112000"/>
                </a:lnSpc>
                <a:buClrTx/>
                <a:defRPr/>
              </a:pPr>
              <a:r>
                <a:rPr lang="en-US" sz="1000" b="1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Unit 10: </a:t>
              </a:r>
              <a:r>
                <a:rPr lang="en-US" sz="1000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Supply Chain Management</a:t>
              </a:r>
              <a:endParaRPr lang="en-GB" sz="1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  <a:p>
              <a:pPr marL="109728" indent="-137160" defTabSz="685800" fontAlgn="ctr">
                <a:lnSpc>
                  <a:spcPct val="112000"/>
                </a:lnSpc>
                <a:buClrTx/>
                <a:defRPr/>
              </a:pPr>
              <a:r>
                <a:rPr lang="en-US" sz="1000" b="1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Unit 11: </a:t>
              </a:r>
              <a:r>
                <a:rPr lang="en-US" sz="1000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Business Process Improvement</a:t>
              </a:r>
              <a:endParaRPr lang="en-GB" sz="1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  <a:p>
              <a:pPr marL="109728" indent="-137160" defTabSz="685800" fontAlgn="ctr">
                <a:lnSpc>
                  <a:spcPct val="112000"/>
                </a:lnSpc>
                <a:buClrTx/>
                <a:defRPr/>
              </a:pPr>
              <a:r>
                <a:rPr lang="en-US" sz="1000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 </a:t>
              </a:r>
              <a:endParaRPr lang="en-GB" sz="1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  <a:p>
              <a:pPr defTabSz="685800">
                <a:lnSpc>
                  <a:spcPct val="112000"/>
                </a:lnSpc>
                <a:spcBef>
                  <a:spcPts val="675"/>
                </a:spcBef>
                <a:buClrTx/>
                <a:defRPr/>
              </a:pPr>
              <a:endParaRPr lang="en-US" sz="1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29" name="Text Placeholder 6">
              <a:extLst>
                <a:ext uri="{FF2B5EF4-FFF2-40B4-BE49-F238E27FC236}">
                  <a16:creationId xmlns:a16="http://schemas.microsoft.com/office/drawing/2014/main" xmlns="" id="{E818D25A-67F7-4CDC-A9F9-92E596277CD6}"/>
                </a:ext>
              </a:extLst>
            </p:cNvPr>
            <p:cNvSpPr txBox="1">
              <a:spLocks/>
            </p:cNvSpPr>
            <p:nvPr/>
          </p:nvSpPr>
          <p:spPr>
            <a:xfrm>
              <a:off x="8809039" y="1063962"/>
              <a:ext cx="2857520" cy="71438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defTabSz="685800" fontAlgn="ctr">
                <a:lnSpc>
                  <a:spcPct val="112000"/>
                </a:lnSpc>
                <a:buClrTx/>
                <a:buSzPts val="1400"/>
                <a:defRPr/>
              </a:pPr>
              <a:r>
                <a:rPr lang="en-US" sz="1000" b="1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Unit 15:</a:t>
              </a:r>
              <a:r>
                <a:rPr lang="en-US" sz="1000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 Cost and Variance Measures</a:t>
              </a:r>
              <a:endParaRPr lang="en-GB" sz="1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  <a:p>
              <a:pPr marL="109728" indent="-137160" defTabSz="685800" fontAlgn="ctr">
                <a:lnSpc>
                  <a:spcPct val="112000"/>
                </a:lnSpc>
                <a:buClrTx/>
                <a:defRPr/>
              </a:pPr>
              <a:r>
                <a:rPr lang="en-US" sz="1000" b="1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Unit 16: </a:t>
              </a:r>
              <a:r>
                <a:rPr lang="en-US" sz="1000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Responsibility Accounting and Performance Measures</a:t>
              </a:r>
              <a:endParaRPr lang="en-GB" sz="1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  <a:p>
              <a:pPr defTabSz="685800">
                <a:lnSpc>
                  <a:spcPct val="112000"/>
                </a:lnSpc>
                <a:spcBef>
                  <a:spcPts val="675"/>
                </a:spcBef>
                <a:buClrTx/>
                <a:defRPr/>
              </a:pPr>
              <a:endParaRPr lang="en-US" sz="1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30" name="Text Placeholder 7">
              <a:extLst>
                <a:ext uri="{FF2B5EF4-FFF2-40B4-BE49-F238E27FC236}">
                  <a16:creationId xmlns:a16="http://schemas.microsoft.com/office/drawing/2014/main" xmlns="" id="{C78C2BF3-B597-4BD5-90B4-54EB9C2F6EE1}"/>
                </a:ext>
              </a:extLst>
            </p:cNvPr>
            <p:cNvSpPr txBox="1">
              <a:spLocks/>
            </p:cNvSpPr>
            <p:nvPr/>
          </p:nvSpPr>
          <p:spPr>
            <a:xfrm>
              <a:off x="8818183" y="2364490"/>
              <a:ext cx="2571768" cy="628299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defTabSz="685800" fontAlgn="ctr">
                <a:lnSpc>
                  <a:spcPct val="112000"/>
                </a:lnSpc>
                <a:buClrTx/>
                <a:buSzPts val="1400"/>
                <a:defRPr/>
              </a:pPr>
              <a:r>
                <a:rPr lang="en-US" sz="1000" b="1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Unit 17: </a:t>
              </a:r>
              <a:r>
                <a:rPr lang="en-US" sz="1000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Internal Controls – Corporate Governance</a:t>
              </a:r>
              <a:endParaRPr lang="en-GB" sz="1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  <a:p>
              <a:pPr marL="109728" indent="-137160" defTabSz="685800" fontAlgn="ctr">
                <a:lnSpc>
                  <a:spcPct val="112000"/>
                </a:lnSpc>
                <a:buClrTx/>
                <a:defRPr/>
              </a:pPr>
              <a:r>
                <a:rPr lang="en-US" sz="1000" b="1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Unit 18: </a:t>
              </a:r>
              <a:r>
                <a:rPr lang="en-US" sz="1000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Internal Controls – Controls and Security Measures </a:t>
              </a:r>
              <a:endParaRPr lang="en-GB" sz="1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  <a:p>
              <a:pPr defTabSz="685800">
                <a:lnSpc>
                  <a:spcPct val="112000"/>
                </a:lnSpc>
                <a:spcBef>
                  <a:spcPts val="675"/>
                </a:spcBef>
                <a:buClrTx/>
                <a:defRPr/>
              </a:pPr>
              <a:endParaRPr lang="en-US" sz="9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38" name="Text Placeholder 8">
              <a:extLst>
                <a:ext uri="{FF2B5EF4-FFF2-40B4-BE49-F238E27FC236}">
                  <a16:creationId xmlns:a16="http://schemas.microsoft.com/office/drawing/2014/main" xmlns="" id="{1637545D-50F9-427A-9297-89D0C0CFAB4F}"/>
                </a:ext>
              </a:extLst>
            </p:cNvPr>
            <p:cNvSpPr txBox="1">
              <a:spLocks/>
            </p:cNvSpPr>
            <p:nvPr/>
          </p:nvSpPr>
          <p:spPr>
            <a:xfrm>
              <a:off x="8818727" y="4104087"/>
              <a:ext cx="2731907" cy="1056926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defTabSz="685800" fontAlgn="ctr">
                <a:lnSpc>
                  <a:spcPct val="112000"/>
                </a:lnSpc>
                <a:buClrTx/>
                <a:buSzPts val="1400"/>
                <a:defRPr/>
              </a:pPr>
              <a:r>
                <a:rPr lang="en-US" sz="1000" b="1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Unit 19: </a:t>
              </a:r>
              <a:r>
                <a:rPr lang="en-US" sz="1000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Information Systems and Data Governance</a:t>
              </a:r>
              <a:endParaRPr lang="en-GB" sz="1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  <a:p>
              <a:pPr marL="109728" indent="-137160" defTabSz="685800" fontAlgn="ctr">
                <a:lnSpc>
                  <a:spcPct val="112000"/>
                </a:lnSpc>
                <a:buClrTx/>
                <a:defRPr/>
              </a:pPr>
              <a:r>
                <a:rPr lang="en-US" sz="1000" b="1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Unit 20:</a:t>
              </a:r>
              <a:r>
                <a:rPr lang="en-US" sz="1000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 Systems Development and Data Analytics</a:t>
              </a:r>
              <a:endParaRPr lang="en-GB" sz="1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  <a:p>
              <a:pPr defTabSz="685800">
                <a:lnSpc>
                  <a:spcPct val="112000"/>
                </a:lnSpc>
                <a:spcBef>
                  <a:spcPts val="675"/>
                </a:spcBef>
                <a:buClrTx/>
                <a:defRPr/>
              </a:pPr>
              <a:endParaRPr lang="en-US" sz="1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39" name="Text Placeholder 30">
              <a:extLst>
                <a:ext uri="{FF2B5EF4-FFF2-40B4-BE49-F238E27FC236}">
                  <a16:creationId xmlns:a16="http://schemas.microsoft.com/office/drawing/2014/main" xmlns="" id="{0799E3FE-591E-4108-948E-DEBB4064E4BF}"/>
                </a:ext>
              </a:extLst>
            </p:cNvPr>
            <p:cNvSpPr txBox="1">
              <a:spLocks/>
            </p:cNvSpPr>
            <p:nvPr/>
          </p:nvSpPr>
          <p:spPr>
            <a:xfrm>
              <a:off x="5238743" y="5433372"/>
              <a:ext cx="5094296" cy="985488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defTabSz="685800" fontAlgn="ctr">
                <a:lnSpc>
                  <a:spcPct val="112000"/>
                </a:lnSpc>
                <a:buClrTx/>
                <a:buSzPts val="1400"/>
                <a:defRPr/>
              </a:pPr>
              <a:r>
                <a:rPr lang="en-US" sz="1000" b="1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Unit 12: </a:t>
              </a:r>
              <a:r>
                <a:rPr lang="en-US" sz="1000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Analysis, Forecasting and Strategy</a:t>
              </a:r>
              <a:endParaRPr lang="en-GB" sz="1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  <a:p>
              <a:pPr marL="109728" indent="-137160" defTabSz="685800" fontAlgn="ctr">
                <a:lnSpc>
                  <a:spcPct val="112000"/>
                </a:lnSpc>
                <a:buClrTx/>
                <a:defRPr/>
              </a:pPr>
              <a:r>
                <a:rPr lang="en-US" sz="1000" b="1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Unit 13: </a:t>
              </a:r>
              <a:r>
                <a:rPr lang="en-US" sz="1000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Budgeting – Concepts, Methodologies and Preparation</a:t>
              </a:r>
              <a:endParaRPr lang="en-GB" sz="1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  <a:p>
              <a:pPr marL="109728" indent="-137160" defTabSz="685800" fontAlgn="ctr">
                <a:lnSpc>
                  <a:spcPct val="112000"/>
                </a:lnSpc>
                <a:buClrTx/>
                <a:defRPr/>
              </a:pPr>
              <a:r>
                <a:rPr lang="en-US" sz="1000" b="1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Unit 14: </a:t>
              </a:r>
              <a:r>
                <a:rPr lang="en-US" sz="1000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Budgeting – Calculations and Pro Forma Financial Statements</a:t>
              </a:r>
              <a:endParaRPr lang="en-GB" sz="1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  <a:p>
              <a:pPr defTabSz="685800">
                <a:lnSpc>
                  <a:spcPct val="112000"/>
                </a:lnSpc>
                <a:spcBef>
                  <a:spcPts val="675"/>
                </a:spcBef>
                <a:buClrTx/>
                <a:defRPr/>
              </a:pPr>
              <a:endParaRPr lang="en-GB" sz="1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40" name="Title 1">
              <a:extLst>
                <a:ext uri="{FF2B5EF4-FFF2-40B4-BE49-F238E27FC236}">
                  <a16:creationId xmlns:a16="http://schemas.microsoft.com/office/drawing/2014/main" xmlns="" id="{D1EFFC3A-0C79-4B3C-8EE8-C9F0FDD6ED1C}"/>
                </a:ext>
              </a:extLst>
            </p:cNvPr>
            <p:cNvSpPr txBox="1">
              <a:spLocks/>
            </p:cNvSpPr>
            <p:nvPr/>
          </p:nvSpPr>
          <p:spPr>
            <a:xfrm>
              <a:off x="5238744" y="500042"/>
              <a:ext cx="3163895" cy="561947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>
              <a:lvl1pPr algn="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000" b="0" i="1" kern="1200" baseline="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 defTabSz="685800">
                <a:buClrTx/>
                <a:defRPr/>
              </a:pPr>
              <a:r>
                <a:rPr lang="en-US" sz="1400" b="1" dirty="0">
                  <a:solidFill>
                    <a:srgbClr val="EF8011"/>
                  </a:solidFill>
                  <a:latin typeface="Times New Roman" pitchFamily="18" charset="0"/>
                  <a:cs typeface="Times New Roman" pitchFamily="18" charset="0"/>
                </a:rPr>
                <a:t>External Financial Reporting Decisions (15%)</a:t>
              </a:r>
            </a:p>
          </p:txBody>
        </p:sp>
        <p:sp>
          <p:nvSpPr>
            <p:cNvPr id="41" name="Title 1">
              <a:extLst>
                <a:ext uri="{FF2B5EF4-FFF2-40B4-BE49-F238E27FC236}">
                  <a16:creationId xmlns:a16="http://schemas.microsoft.com/office/drawing/2014/main" xmlns="" id="{E24B3267-75D8-43A3-9E05-431EC3513889}"/>
                </a:ext>
              </a:extLst>
            </p:cNvPr>
            <p:cNvSpPr txBox="1">
              <a:spLocks/>
            </p:cNvSpPr>
            <p:nvPr/>
          </p:nvSpPr>
          <p:spPr>
            <a:xfrm>
              <a:off x="5238743" y="3309750"/>
              <a:ext cx="3367095" cy="285752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>
              <a:lvl1pPr algn="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000" b="0" i="1" kern="1200" baseline="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 defTabSz="685800">
                <a:buClrTx/>
                <a:defRPr/>
              </a:pPr>
              <a:r>
                <a:rPr lang="en-US" sz="1400" b="1" dirty="0">
                  <a:solidFill>
                    <a:srgbClr val="EF8011"/>
                  </a:solidFill>
                  <a:latin typeface="Times New Roman" pitchFamily="18" charset="0"/>
                  <a:cs typeface="Times New Roman" pitchFamily="18" charset="0"/>
                </a:rPr>
                <a:t>Cost Management (15%)</a:t>
              </a:r>
            </a:p>
          </p:txBody>
        </p:sp>
        <p:sp>
          <p:nvSpPr>
            <p:cNvPr id="42" name="Title 1">
              <a:extLst>
                <a:ext uri="{FF2B5EF4-FFF2-40B4-BE49-F238E27FC236}">
                  <a16:creationId xmlns:a16="http://schemas.microsoft.com/office/drawing/2014/main" xmlns="" id="{C6E5DB1F-7EDE-4140-9376-45AFB8CCF5A1}"/>
                </a:ext>
              </a:extLst>
            </p:cNvPr>
            <p:cNvSpPr txBox="1">
              <a:spLocks/>
            </p:cNvSpPr>
            <p:nvPr/>
          </p:nvSpPr>
          <p:spPr>
            <a:xfrm>
              <a:off x="5238744" y="4881562"/>
              <a:ext cx="3357587" cy="555455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>
              <a:lvl1pPr algn="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000" b="0" i="1" kern="1200" baseline="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 defTabSz="685800">
                <a:buClrTx/>
                <a:defRPr/>
              </a:pPr>
              <a:r>
                <a:rPr lang="en-GB" sz="1400" b="1" dirty="0">
                  <a:solidFill>
                    <a:srgbClr val="EF8011"/>
                  </a:solidFill>
                  <a:latin typeface="Times New Roman" pitchFamily="18" charset="0"/>
                  <a:cs typeface="Times New Roman" pitchFamily="18" charset="0"/>
                </a:rPr>
                <a:t> Planning, Budgeting and Forecasting (20%)</a:t>
              </a:r>
            </a:p>
          </p:txBody>
        </p:sp>
        <p:sp>
          <p:nvSpPr>
            <p:cNvPr id="43" name="Title 1">
              <a:extLst>
                <a:ext uri="{FF2B5EF4-FFF2-40B4-BE49-F238E27FC236}">
                  <a16:creationId xmlns:a16="http://schemas.microsoft.com/office/drawing/2014/main" xmlns="" id="{4AD1B069-B297-40E8-ABF5-2194B00DA1E6}"/>
                </a:ext>
              </a:extLst>
            </p:cNvPr>
            <p:cNvSpPr txBox="1">
              <a:spLocks/>
            </p:cNvSpPr>
            <p:nvPr/>
          </p:nvSpPr>
          <p:spPr>
            <a:xfrm>
              <a:off x="8809039" y="529034"/>
              <a:ext cx="2714644" cy="571504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rmAutofit/>
            </a:bodyPr>
            <a:lstStyle>
              <a:lvl1pPr algn="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000" b="0" i="1" kern="1200" baseline="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 defTabSz="685800">
                <a:buClrTx/>
                <a:defRPr/>
              </a:pPr>
              <a:r>
                <a:rPr lang="en-US" sz="1400" b="1" dirty="0">
                  <a:solidFill>
                    <a:srgbClr val="EF8011"/>
                  </a:solidFill>
                  <a:latin typeface="Times New Roman" pitchFamily="18" charset="0"/>
                  <a:cs typeface="Times New Roman" pitchFamily="18" charset="0"/>
                </a:rPr>
                <a:t>Performance Management (20%)</a:t>
              </a:r>
            </a:p>
          </p:txBody>
        </p:sp>
        <p:sp>
          <p:nvSpPr>
            <p:cNvPr id="44" name="Title 1">
              <a:extLst>
                <a:ext uri="{FF2B5EF4-FFF2-40B4-BE49-F238E27FC236}">
                  <a16:creationId xmlns:a16="http://schemas.microsoft.com/office/drawing/2014/main" xmlns="" id="{8C4EEFAB-19DE-4751-95CB-208351721873}"/>
                </a:ext>
              </a:extLst>
            </p:cNvPr>
            <p:cNvSpPr txBox="1">
              <a:spLocks/>
            </p:cNvSpPr>
            <p:nvPr/>
          </p:nvSpPr>
          <p:spPr>
            <a:xfrm>
              <a:off x="8818183" y="2054950"/>
              <a:ext cx="3240451" cy="357191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>
              <a:lvl1pPr algn="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000" b="0" i="1" kern="1200" baseline="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 defTabSz="685800">
                <a:buClrTx/>
                <a:defRPr/>
              </a:pPr>
              <a:r>
                <a:rPr lang="en-US" sz="1400" b="1" dirty="0">
                  <a:solidFill>
                    <a:srgbClr val="EF8011"/>
                  </a:solidFill>
                  <a:latin typeface="Times New Roman" pitchFamily="18" charset="0"/>
                  <a:cs typeface="Times New Roman" pitchFamily="18" charset="0"/>
                </a:rPr>
                <a:t>Internal Controls (15%)</a:t>
              </a:r>
            </a:p>
          </p:txBody>
        </p:sp>
        <p:sp>
          <p:nvSpPr>
            <p:cNvPr id="45" name="Title 1">
              <a:extLst>
                <a:ext uri="{FF2B5EF4-FFF2-40B4-BE49-F238E27FC236}">
                  <a16:creationId xmlns:a16="http://schemas.microsoft.com/office/drawing/2014/main" xmlns="" id="{09D32E40-6ADE-4220-A247-AAAAA249F6C6}"/>
                </a:ext>
              </a:extLst>
            </p:cNvPr>
            <p:cNvSpPr txBox="1">
              <a:spLocks/>
            </p:cNvSpPr>
            <p:nvPr/>
          </p:nvSpPr>
          <p:spPr>
            <a:xfrm>
              <a:off x="8809039" y="3560761"/>
              <a:ext cx="3000396" cy="571504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rmAutofit/>
            </a:bodyPr>
            <a:lstStyle>
              <a:lvl1pPr algn="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000" b="0" i="1" kern="1200" baseline="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 defTabSz="685800">
                <a:buClrTx/>
                <a:defRPr/>
              </a:pPr>
              <a:r>
                <a:rPr lang="en-US" sz="1400" b="1" dirty="0">
                  <a:solidFill>
                    <a:srgbClr val="EF8011"/>
                  </a:solidFill>
                  <a:latin typeface="Times New Roman" pitchFamily="18" charset="0"/>
                  <a:cs typeface="Times New Roman" pitchFamily="18" charset="0"/>
                </a:rPr>
                <a:t>Technology and Analytics (15%)</a:t>
              </a:r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xmlns="" id="{2654DA9A-F01A-481E-A192-F11CA07CC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81149"/>
            <a:ext cx="3126191" cy="685801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rgbClr val="FFC000"/>
                </a:solidFill>
                <a:latin typeface="Times New Roman" pitchFamily="18" charset="0"/>
              </a:rPr>
              <a:t>Course Structure</a:t>
            </a:r>
          </a:p>
        </p:txBody>
      </p:sp>
    </p:spTree>
    <p:extLst>
      <p:ext uri="{BB962C8B-B14F-4D97-AF65-F5344CB8AC3E}">
        <p14:creationId xmlns:p14="http://schemas.microsoft.com/office/powerpoint/2010/main" xmlns="" val="3289796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Chart" descr="Circular chart">
            <a:extLst>
              <a:ext uri="{FF2B5EF4-FFF2-40B4-BE49-F238E27FC236}">
                <a16:creationId xmlns:a16="http://schemas.microsoft.com/office/drawing/2014/main" xmlns="" id="{19C74561-78D1-4CF9-A43E-B1BCFD99B887}"/>
              </a:ext>
            </a:extLst>
          </p:cNvPr>
          <p:cNvGraphicFramePr>
            <a:graphicFrameLocks/>
          </p:cNvGraphicFramePr>
          <p:nvPr/>
        </p:nvGraphicFramePr>
        <p:xfrm>
          <a:off x="100558" y="1432259"/>
          <a:ext cx="3388131" cy="34816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1" name="Title 1">
            <a:extLst>
              <a:ext uri="{FF2B5EF4-FFF2-40B4-BE49-F238E27FC236}">
                <a16:creationId xmlns:a16="http://schemas.microsoft.com/office/drawing/2014/main" xmlns="" id="{2654DA9A-F01A-481E-A192-F11CA07CC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81149"/>
            <a:ext cx="3126191" cy="685801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rgbClr val="FFC000"/>
                </a:solidFill>
                <a:latin typeface="Times New Roman" pitchFamily="18" charset="0"/>
              </a:rPr>
              <a:t>Course Structure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5BBBD63-2027-48EB-A649-F9C1B4BC76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 defTabSz="685800">
              <a:buClrTx/>
              <a:defRPr/>
            </a:pPr>
            <a:fld id="{13D2E340-0663-474B-992C-9192B5C45E57}" type="slidenum">
              <a:rPr lang="en-US" sz="900" b="0" i="1" kern="1200" smtClean="0">
                <a:solidFill>
                  <a:srgbClr val="F5F5F5"/>
                </a:solidFill>
                <a:latin typeface="Century Schoolbook" panose="02040604050505020304"/>
                <a:ea typeface="+mn-ea"/>
                <a:cs typeface="Arial" charset="0"/>
              </a:rPr>
              <a:pPr algn="r" defTabSz="685800">
                <a:buClrTx/>
                <a:defRPr/>
              </a:pPr>
              <a:t>3</a:t>
            </a:fld>
            <a:endParaRPr lang="en-US" sz="900" b="0" i="1" kern="1200" dirty="0">
              <a:solidFill>
                <a:srgbClr val="F5F5F5"/>
              </a:solidFill>
              <a:latin typeface="Century Schoolbook" panose="02040604050505020304"/>
              <a:ea typeface="+mn-ea"/>
              <a:cs typeface="Arial" charset="0"/>
            </a:endParaRP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xmlns="" id="{6DCC875B-FB79-4EB2-ACC0-A26593F489C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160338"/>
            <a:ext cx="3322638" cy="911225"/>
          </a:xfrm>
        </p:spPr>
        <p:txBody>
          <a:bodyPr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CMA Part 2:</a:t>
            </a:r>
          </a:p>
          <a:p>
            <a:pPr algn="ctr">
              <a:spcBef>
                <a:spcPts val="0"/>
              </a:spcBef>
              <a:buNone/>
            </a:pPr>
            <a:r>
              <a:rPr lang="en-GB" sz="1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Strategic Financial Management </a:t>
            </a:r>
            <a:endParaRPr lang="en-US" sz="18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" name="Group 25"/>
          <p:cNvGrpSpPr/>
          <p:nvPr/>
        </p:nvGrpSpPr>
        <p:grpSpPr>
          <a:xfrm>
            <a:off x="3875478" y="971550"/>
            <a:ext cx="4929223" cy="3416351"/>
            <a:chOff x="5238743" y="500042"/>
            <a:chExt cx="6572297" cy="4555134"/>
          </a:xfrm>
        </p:grpSpPr>
        <p:sp>
          <p:nvSpPr>
            <p:cNvPr id="27" name="Content Placeholder 3">
              <a:extLst>
                <a:ext uri="{FF2B5EF4-FFF2-40B4-BE49-F238E27FC236}">
                  <a16:creationId xmlns:a16="http://schemas.microsoft.com/office/drawing/2014/main" xmlns="" id="{52ACB615-64CF-4226-B7EB-A7D9E8A800A2}"/>
                </a:ext>
              </a:extLst>
            </p:cNvPr>
            <p:cNvSpPr txBox="1">
              <a:spLocks/>
            </p:cNvSpPr>
            <p:nvPr/>
          </p:nvSpPr>
          <p:spPr>
            <a:xfrm>
              <a:off x="5238744" y="1074726"/>
              <a:ext cx="3357587" cy="962036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defTabSz="685800" fontAlgn="ctr">
                <a:lnSpc>
                  <a:spcPct val="112000"/>
                </a:lnSpc>
                <a:buClrTx/>
                <a:buSzPts val="1400"/>
                <a:defRPr/>
              </a:pPr>
              <a:r>
                <a:rPr lang="en-US" sz="1000" b="1" kern="1200" dirty="0">
                  <a:latin typeface="Times New Roman" pitchFamily="18" charset="0"/>
                  <a:cs typeface="Times New Roman" pitchFamily="18" charset="0"/>
                </a:rPr>
                <a:t>Unit 1: </a:t>
              </a:r>
              <a:r>
                <a:rPr lang="en-US" sz="1000" kern="1200" dirty="0">
                  <a:latin typeface="Times New Roman" pitchFamily="18" charset="0"/>
                  <a:cs typeface="Times New Roman" pitchFamily="18" charset="0"/>
                </a:rPr>
                <a:t>Liquidity, Solvency, and Leverage Ratios</a:t>
              </a:r>
              <a:endParaRPr lang="en-GB" sz="1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defTabSz="685800" fontAlgn="ctr">
                <a:lnSpc>
                  <a:spcPct val="112000"/>
                </a:lnSpc>
                <a:buClrTx/>
                <a:buSzPts val="1400"/>
                <a:defRPr/>
              </a:pPr>
              <a:r>
                <a:rPr lang="en-US" sz="1000" b="1" kern="1200" dirty="0">
                  <a:latin typeface="Times New Roman" pitchFamily="18" charset="0"/>
                  <a:cs typeface="Times New Roman" pitchFamily="18" charset="0"/>
                </a:rPr>
                <a:t>Unit 2: </a:t>
              </a:r>
              <a:r>
                <a:rPr lang="en-US" sz="1000" kern="1200" dirty="0">
                  <a:latin typeface="Times New Roman" pitchFamily="18" charset="0"/>
                  <a:cs typeface="Times New Roman" pitchFamily="18" charset="0"/>
                </a:rPr>
                <a:t>Profitability and Per-Share Ratios</a:t>
              </a:r>
              <a:endParaRPr lang="en-US" sz="1000" b="1" kern="1200" dirty="0">
                <a:latin typeface="Times New Roman" pitchFamily="18" charset="0"/>
                <a:ea typeface="+mn-ea"/>
                <a:cs typeface="Times New Roman" pitchFamily="18" charset="0"/>
              </a:endParaRPr>
            </a:p>
            <a:p>
              <a:pPr defTabSz="685800" fontAlgn="ctr">
                <a:lnSpc>
                  <a:spcPct val="112000"/>
                </a:lnSpc>
                <a:buClrTx/>
                <a:buSzPts val="1400"/>
                <a:defRPr/>
              </a:pPr>
              <a:r>
                <a:rPr lang="en-US" sz="1000" b="1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Unit 3: </a:t>
              </a:r>
              <a:r>
                <a:rPr lang="en-US" sz="1000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Activity Ratios and Special Issues</a:t>
              </a:r>
              <a:endParaRPr lang="en-GB" sz="1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28" name="Text Placeholder 4">
              <a:extLst>
                <a:ext uri="{FF2B5EF4-FFF2-40B4-BE49-F238E27FC236}">
                  <a16:creationId xmlns:a16="http://schemas.microsoft.com/office/drawing/2014/main" xmlns="" id="{7CC704F7-10A3-438C-BF49-21B39AA5FD1F}"/>
                </a:ext>
              </a:extLst>
            </p:cNvPr>
            <p:cNvSpPr txBox="1">
              <a:spLocks/>
            </p:cNvSpPr>
            <p:nvPr/>
          </p:nvSpPr>
          <p:spPr>
            <a:xfrm>
              <a:off x="5238744" y="2534348"/>
              <a:ext cx="3163895" cy="107157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marL="109728" indent="-137160" defTabSz="685800" fontAlgn="ctr">
                <a:lnSpc>
                  <a:spcPct val="112000"/>
                </a:lnSpc>
                <a:buClrTx/>
                <a:defRPr/>
              </a:pPr>
              <a:r>
                <a:rPr lang="en-US" sz="1000" b="1" kern="1200" dirty="0">
                  <a:latin typeface="Times New Roman" pitchFamily="18" charset="0"/>
                  <a:cs typeface="Times New Roman" pitchFamily="18" charset="0"/>
                </a:rPr>
                <a:t>Unit 4: </a:t>
              </a:r>
              <a:r>
                <a:rPr lang="en-US" sz="1000" kern="1200" dirty="0">
                  <a:latin typeface="Times New Roman" pitchFamily="18" charset="0"/>
                  <a:cs typeface="Times New Roman" pitchFamily="18" charset="0"/>
                </a:rPr>
                <a:t>Types of Securities</a:t>
              </a:r>
              <a:endParaRPr lang="en-US" sz="1000" b="1" kern="1200" dirty="0">
                <a:latin typeface="Times New Roman" pitchFamily="18" charset="0"/>
                <a:cs typeface="Times New Roman" pitchFamily="18" charset="0"/>
              </a:endParaRPr>
            </a:p>
            <a:p>
              <a:pPr marL="109728" indent="-137160" defTabSz="685800" fontAlgn="ctr">
                <a:lnSpc>
                  <a:spcPct val="112000"/>
                </a:lnSpc>
                <a:buClrTx/>
                <a:defRPr/>
              </a:pPr>
              <a:r>
                <a:rPr lang="en-US" sz="1000" b="1" kern="1200" dirty="0">
                  <a:latin typeface="Times New Roman" pitchFamily="18" charset="0"/>
                  <a:cs typeface="Times New Roman" pitchFamily="18" charset="0"/>
                </a:rPr>
                <a:t>Unit 5: </a:t>
              </a:r>
              <a:r>
                <a:rPr lang="en-US" sz="1000" kern="1200" dirty="0">
                  <a:latin typeface="Times New Roman" pitchFamily="18" charset="0"/>
                  <a:cs typeface="Times New Roman" pitchFamily="18" charset="0"/>
                </a:rPr>
                <a:t>Financial Markets and Financing</a:t>
              </a:r>
              <a:endParaRPr lang="en-US" sz="1000" b="1" kern="1200" dirty="0">
                <a:latin typeface="Times New Roman" pitchFamily="18" charset="0"/>
                <a:cs typeface="Times New Roman" pitchFamily="18" charset="0"/>
              </a:endParaRPr>
            </a:p>
            <a:p>
              <a:pPr marL="109728" indent="-137160" defTabSz="685800" fontAlgn="ctr">
                <a:lnSpc>
                  <a:spcPct val="112000"/>
                </a:lnSpc>
                <a:buClrTx/>
                <a:defRPr/>
              </a:pPr>
              <a:r>
                <a:rPr lang="en-US" sz="1000" b="1" kern="1200" dirty="0">
                  <a:latin typeface="Times New Roman" pitchFamily="18" charset="0"/>
                  <a:cs typeface="Times New Roman" pitchFamily="18" charset="0"/>
                </a:rPr>
                <a:t>Unit 6: </a:t>
              </a:r>
              <a:r>
                <a:rPr lang="en-US" sz="1000" kern="1200" dirty="0">
                  <a:latin typeface="Times New Roman" pitchFamily="18" charset="0"/>
                  <a:cs typeface="Times New Roman" pitchFamily="18" charset="0"/>
                </a:rPr>
                <a:t>Valuation Methods and Cost of Capital</a:t>
              </a:r>
              <a:endParaRPr lang="en-US" sz="1000" b="1" kern="1200" dirty="0">
                <a:latin typeface="Times New Roman" pitchFamily="18" charset="0"/>
                <a:cs typeface="Times New Roman" pitchFamily="18" charset="0"/>
              </a:endParaRPr>
            </a:p>
            <a:p>
              <a:pPr marL="109728" indent="-137160" defTabSz="685800" fontAlgn="ctr">
                <a:lnSpc>
                  <a:spcPct val="112000"/>
                </a:lnSpc>
                <a:buClrTx/>
                <a:defRPr/>
              </a:pPr>
              <a:r>
                <a:rPr lang="en-US" sz="1000" b="1" kern="1200" dirty="0">
                  <a:latin typeface="Times New Roman" pitchFamily="18" charset="0"/>
                  <a:cs typeface="Times New Roman" pitchFamily="18" charset="0"/>
                </a:rPr>
                <a:t>Unit 7: </a:t>
              </a:r>
              <a:r>
                <a:rPr lang="en-US" sz="1000" kern="1200" dirty="0">
                  <a:latin typeface="Times New Roman" pitchFamily="18" charset="0"/>
                  <a:cs typeface="Times New Roman" pitchFamily="18" charset="0"/>
                </a:rPr>
                <a:t>Working Capital Management</a:t>
              </a:r>
              <a:endParaRPr lang="en-US" sz="1000" b="1" kern="1200" dirty="0">
                <a:latin typeface="Times New Roman" pitchFamily="18" charset="0"/>
                <a:ea typeface="+mn-ea"/>
                <a:cs typeface="Times New Roman" pitchFamily="18" charset="0"/>
              </a:endParaRPr>
            </a:p>
            <a:p>
              <a:pPr marL="109728" indent="-137160" defTabSz="685800" fontAlgn="ctr">
                <a:lnSpc>
                  <a:spcPct val="112000"/>
                </a:lnSpc>
                <a:buClrTx/>
                <a:defRPr/>
              </a:pPr>
              <a:r>
                <a:rPr lang="en-US" sz="1000" b="1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Unit 8: </a:t>
              </a:r>
              <a:r>
                <a:rPr lang="en-US" sz="1000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Corporate Restructuring, International Trade, and Exchange Rates </a:t>
              </a:r>
              <a:endParaRPr lang="en-GB" sz="1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  <a:p>
              <a:pPr defTabSz="685800">
                <a:lnSpc>
                  <a:spcPct val="112000"/>
                </a:lnSpc>
                <a:spcBef>
                  <a:spcPts val="675"/>
                </a:spcBef>
                <a:buClrTx/>
                <a:defRPr/>
              </a:pPr>
              <a:endParaRPr lang="en-US" sz="1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29" name="Text Placeholder 6">
              <a:extLst>
                <a:ext uri="{FF2B5EF4-FFF2-40B4-BE49-F238E27FC236}">
                  <a16:creationId xmlns:a16="http://schemas.microsoft.com/office/drawing/2014/main" xmlns="" id="{E818D25A-67F7-4CDC-A9F9-92E596277CD6}"/>
                </a:ext>
              </a:extLst>
            </p:cNvPr>
            <p:cNvSpPr txBox="1">
              <a:spLocks/>
            </p:cNvSpPr>
            <p:nvPr/>
          </p:nvSpPr>
          <p:spPr>
            <a:xfrm>
              <a:off x="8796319" y="832327"/>
              <a:ext cx="2857520" cy="322273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defTabSz="685800" fontAlgn="ctr">
                <a:lnSpc>
                  <a:spcPct val="112000"/>
                </a:lnSpc>
                <a:buClrTx/>
                <a:buSzPts val="1400"/>
                <a:defRPr/>
              </a:pPr>
              <a:r>
                <a:rPr lang="en-US" sz="1000" b="1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Unit 12:</a:t>
              </a:r>
              <a:r>
                <a:rPr lang="en-US" sz="1000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 Risk Management</a:t>
              </a:r>
              <a:endParaRPr lang="en-US" sz="1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30" name="Text Placeholder 7">
              <a:extLst>
                <a:ext uri="{FF2B5EF4-FFF2-40B4-BE49-F238E27FC236}">
                  <a16:creationId xmlns:a16="http://schemas.microsoft.com/office/drawing/2014/main" xmlns="" id="{C78C2BF3-B597-4BD5-90B4-54EB9C2F6EE1}"/>
                </a:ext>
              </a:extLst>
            </p:cNvPr>
            <p:cNvSpPr txBox="1">
              <a:spLocks/>
            </p:cNvSpPr>
            <p:nvPr/>
          </p:nvSpPr>
          <p:spPr>
            <a:xfrm>
              <a:off x="8797209" y="1607787"/>
              <a:ext cx="2571768" cy="342545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rmAutofit/>
            </a:bodyPr>
            <a:lstStyle/>
            <a:p>
              <a:pPr defTabSz="685800" fontAlgn="ctr">
                <a:lnSpc>
                  <a:spcPct val="112000"/>
                </a:lnSpc>
                <a:buClrTx/>
                <a:buSzPts val="1400"/>
                <a:defRPr/>
              </a:pPr>
              <a:r>
                <a:rPr lang="en-US" sz="1000" b="1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Unit 13: </a:t>
              </a:r>
              <a:r>
                <a:rPr lang="en-US" sz="1000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Investment Decisions</a:t>
              </a:r>
              <a:endParaRPr lang="en-GB" sz="1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38" name="Text Placeholder 8">
              <a:extLst>
                <a:ext uri="{FF2B5EF4-FFF2-40B4-BE49-F238E27FC236}">
                  <a16:creationId xmlns:a16="http://schemas.microsoft.com/office/drawing/2014/main" xmlns="" id="{1637545D-50F9-427A-9297-89D0C0CFAB4F}"/>
                </a:ext>
              </a:extLst>
            </p:cNvPr>
            <p:cNvSpPr txBox="1">
              <a:spLocks/>
            </p:cNvSpPr>
            <p:nvPr/>
          </p:nvSpPr>
          <p:spPr>
            <a:xfrm>
              <a:off x="8810644" y="2354312"/>
              <a:ext cx="2639995" cy="105692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defTabSz="685800" fontAlgn="ctr">
                <a:lnSpc>
                  <a:spcPct val="112000"/>
                </a:lnSpc>
                <a:buClrTx/>
                <a:buSzPts val="1400"/>
                <a:defRPr/>
              </a:pPr>
              <a:r>
                <a:rPr lang="en-US" sz="1000" b="1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Unit 14: </a:t>
              </a:r>
              <a:r>
                <a:rPr lang="en-US" sz="1000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Ethical Considerations for Management</a:t>
              </a:r>
              <a:endParaRPr lang="en-GB" sz="1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  <a:p>
              <a:pPr marL="109728" indent="-137160" defTabSz="685800" fontAlgn="ctr">
                <a:lnSpc>
                  <a:spcPct val="112000"/>
                </a:lnSpc>
                <a:buClrTx/>
                <a:defRPr/>
              </a:pPr>
              <a:r>
                <a:rPr lang="en-US" sz="1000" b="1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Unit 15:</a:t>
              </a:r>
              <a:r>
                <a:rPr lang="en-US" sz="1000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 Ethical Considerations for the Organization</a:t>
              </a:r>
              <a:endParaRPr lang="en-GB" sz="1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</p:txBody>
        </p:sp>
        <p:sp>
          <p:nvSpPr>
            <p:cNvPr id="39" name="Text Placeholder 30">
              <a:extLst>
                <a:ext uri="{FF2B5EF4-FFF2-40B4-BE49-F238E27FC236}">
                  <a16:creationId xmlns:a16="http://schemas.microsoft.com/office/drawing/2014/main" xmlns="" id="{0799E3FE-591E-4108-948E-DEBB4064E4BF}"/>
                </a:ext>
              </a:extLst>
            </p:cNvPr>
            <p:cNvSpPr txBox="1">
              <a:spLocks/>
            </p:cNvSpPr>
            <p:nvPr/>
          </p:nvSpPr>
          <p:spPr>
            <a:xfrm>
              <a:off x="5238744" y="4648776"/>
              <a:ext cx="3071835" cy="406400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noAutofit/>
            </a:bodyPr>
            <a:lstStyle/>
            <a:p>
              <a:pPr defTabSz="685800" fontAlgn="ctr">
                <a:lnSpc>
                  <a:spcPct val="112000"/>
                </a:lnSpc>
                <a:buClrTx/>
                <a:buSzPts val="1400"/>
                <a:defRPr/>
              </a:pPr>
              <a:r>
                <a:rPr lang="en-US" sz="1000" b="1" kern="1200" dirty="0">
                  <a:latin typeface="Times New Roman" pitchFamily="18" charset="0"/>
                  <a:cs typeface="Times New Roman" pitchFamily="18" charset="0"/>
                </a:rPr>
                <a:t>Unit 9: </a:t>
              </a:r>
              <a:r>
                <a:rPr lang="en-US" sz="1000" kern="1200" dirty="0">
                  <a:latin typeface="Times New Roman" pitchFamily="18" charset="0"/>
                  <a:cs typeface="Times New Roman" pitchFamily="18" charset="0"/>
                </a:rPr>
                <a:t>CVP Analysis</a:t>
              </a:r>
              <a:endParaRPr lang="en-US" sz="1000" b="1" kern="1200" dirty="0">
                <a:latin typeface="Times New Roman" pitchFamily="18" charset="0"/>
                <a:ea typeface="+mn-ea"/>
                <a:cs typeface="Times New Roman" pitchFamily="18" charset="0"/>
              </a:endParaRPr>
            </a:p>
            <a:p>
              <a:pPr defTabSz="685800" fontAlgn="ctr">
                <a:lnSpc>
                  <a:spcPct val="112000"/>
                </a:lnSpc>
                <a:buClrTx/>
                <a:buSzPts val="1400"/>
                <a:defRPr/>
              </a:pPr>
              <a:r>
                <a:rPr lang="en-US" sz="1000" b="1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Unit 10: </a:t>
              </a:r>
              <a:r>
                <a:rPr lang="en-US" sz="1000" kern="1200" dirty="0">
                  <a:latin typeface="Times New Roman" pitchFamily="18" charset="0"/>
                  <a:ea typeface="+mn-ea"/>
                  <a:cs typeface="Times New Roman" pitchFamily="18" charset="0"/>
                </a:rPr>
                <a:t>Marginal Analysis</a:t>
              </a:r>
              <a:endParaRPr lang="en-GB" sz="1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endParaRPr>
            </a:p>
            <a:p>
              <a:pPr defTabSz="685800" fontAlgn="ctr">
                <a:lnSpc>
                  <a:spcPct val="112000"/>
                </a:lnSpc>
                <a:buClrTx/>
                <a:buSzPts val="1400"/>
                <a:defRPr/>
              </a:pPr>
              <a:r>
                <a:rPr lang="en-US" sz="1000" b="1" kern="1200" dirty="0">
                  <a:latin typeface="Times New Roman" pitchFamily="18" charset="0"/>
                  <a:cs typeface="Times New Roman" pitchFamily="18" charset="0"/>
                </a:rPr>
                <a:t>Unit 11: </a:t>
              </a:r>
              <a:r>
                <a:rPr lang="en-US" sz="1000" kern="1200" dirty="0">
                  <a:latin typeface="Times New Roman" pitchFamily="18" charset="0"/>
                  <a:cs typeface="Times New Roman" pitchFamily="18" charset="0"/>
                </a:rPr>
                <a:t>Pricing Analysis</a:t>
              </a:r>
              <a:endParaRPr lang="en-GB" sz="1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" name="Title 1">
              <a:extLst>
                <a:ext uri="{FF2B5EF4-FFF2-40B4-BE49-F238E27FC236}">
                  <a16:creationId xmlns:a16="http://schemas.microsoft.com/office/drawing/2014/main" xmlns="" id="{D1EFFC3A-0C79-4B3C-8EE8-C9F0FDD6ED1C}"/>
                </a:ext>
              </a:extLst>
            </p:cNvPr>
            <p:cNvSpPr txBox="1">
              <a:spLocks/>
            </p:cNvSpPr>
            <p:nvPr/>
          </p:nvSpPr>
          <p:spPr>
            <a:xfrm>
              <a:off x="5238744" y="500042"/>
              <a:ext cx="3357586" cy="561946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>
              <a:lvl1pPr algn="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000" b="0" i="1" kern="1200" baseline="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 defTabSz="685800">
                <a:buClrTx/>
                <a:defRPr/>
              </a:pPr>
              <a:r>
                <a:rPr lang="en-US" sz="1400" b="1" dirty="0">
                  <a:solidFill>
                    <a:srgbClr val="EF8011"/>
                  </a:solidFill>
                  <a:latin typeface="Times New Roman" pitchFamily="18" charset="0"/>
                  <a:cs typeface="Times New Roman" pitchFamily="18" charset="0"/>
                </a:rPr>
                <a:t>Financial Statement Analysis (20%)</a:t>
              </a:r>
            </a:p>
          </p:txBody>
        </p:sp>
        <p:sp>
          <p:nvSpPr>
            <p:cNvPr id="41" name="Title 1">
              <a:extLst>
                <a:ext uri="{FF2B5EF4-FFF2-40B4-BE49-F238E27FC236}">
                  <a16:creationId xmlns:a16="http://schemas.microsoft.com/office/drawing/2014/main" xmlns="" id="{E24B3267-75D8-43A3-9E05-431EC3513889}"/>
                </a:ext>
              </a:extLst>
            </p:cNvPr>
            <p:cNvSpPr txBox="1">
              <a:spLocks/>
            </p:cNvSpPr>
            <p:nvPr/>
          </p:nvSpPr>
          <p:spPr>
            <a:xfrm>
              <a:off x="5238743" y="2239962"/>
              <a:ext cx="3163895" cy="285752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>
              <a:lvl1pPr algn="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000" b="0" i="1" kern="1200" baseline="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 defTabSz="685800">
                <a:buClrTx/>
                <a:defRPr/>
              </a:pPr>
              <a:r>
                <a:rPr lang="en-US" sz="1400" b="1" dirty="0">
                  <a:solidFill>
                    <a:srgbClr val="EF8011"/>
                  </a:solidFill>
                  <a:latin typeface="Times New Roman" pitchFamily="18" charset="0"/>
                  <a:cs typeface="Times New Roman" pitchFamily="18" charset="0"/>
                </a:rPr>
                <a:t>Corporate Finance (20%) </a:t>
              </a:r>
            </a:p>
          </p:txBody>
        </p:sp>
        <p:sp>
          <p:nvSpPr>
            <p:cNvPr id="42" name="Title 1">
              <a:extLst>
                <a:ext uri="{FF2B5EF4-FFF2-40B4-BE49-F238E27FC236}">
                  <a16:creationId xmlns:a16="http://schemas.microsoft.com/office/drawing/2014/main" xmlns="" id="{C6E5DB1F-7EDE-4140-9376-45AFB8CCF5A1}"/>
                </a:ext>
              </a:extLst>
            </p:cNvPr>
            <p:cNvSpPr txBox="1">
              <a:spLocks/>
            </p:cNvSpPr>
            <p:nvPr/>
          </p:nvSpPr>
          <p:spPr>
            <a:xfrm>
              <a:off x="5238744" y="4373561"/>
              <a:ext cx="3357586" cy="376816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>
              <a:lvl1pPr algn="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000" b="0" i="1" kern="1200" baseline="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 defTabSz="685800">
                <a:buClrTx/>
                <a:defRPr/>
              </a:pPr>
              <a:r>
                <a:rPr lang="en-US" sz="1400" b="1" dirty="0">
                  <a:solidFill>
                    <a:srgbClr val="EF8011"/>
                  </a:solidFill>
                  <a:latin typeface="Times New Roman" pitchFamily="18" charset="0"/>
                  <a:cs typeface="Times New Roman" pitchFamily="18" charset="0"/>
                </a:rPr>
                <a:t>Decision Analysis (25%)</a:t>
              </a:r>
              <a:endParaRPr lang="en-GB" sz="1400" b="1" dirty="0">
                <a:solidFill>
                  <a:srgbClr val="EF801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" name="Title 1">
              <a:extLst>
                <a:ext uri="{FF2B5EF4-FFF2-40B4-BE49-F238E27FC236}">
                  <a16:creationId xmlns:a16="http://schemas.microsoft.com/office/drawing/2014/main" xmlns="" id="{4AD1B069-B297-40E8-ABF5-2194B00DA1E6}"/>
                </a:ext>
              </a:extLst>
            </p:cNvPr>
            <p:cNvSpPr txBox="1">
              <a:spLocks/>
            </p:cNvSpPr>
            <p:nvPr/>
          </p:nvSpPr>
          <p:spPr>
            <a:xfrm>
              <a:off x="8796319" y="550858"/>
              <a:ext cx="2714644" cy="571504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rmAutofit/>
            </a:bodyPr>
            <a:lstStyle>
              <a:lvl1pPr algn="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000" b="0" i="1" kern="1200" baseline="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 defTabSz="685800">
                <a:buClrTx/>
                <a:defRPr/>
              </a:pPr>
              <a:r>
                <a:rPr lang="en-US" sz="1400" b="1" dirty="0">
                  <a:solidFill>
                    <a:srgbClr val="EF8011"/>
                  </a:solidFill>
                  <a:latin typeface="Times New Roman" pitchFamily="18" charset="0"/>
                  <a:cs typeface="Times New Roman" pitchFamily="18" charset="0"/>
                </a:rPr>
                <a:t>Risk Management (10%)</a:t>
              </a:r>
            </a:p>
          </p:txBody>
        </p:sp>
        <p:sp>
          <p:nvSpPr>
            <p:cNvPr id="44" name="Title 1">
              <a:extLst>
                <a:ext uri="{FF2B5EF4-FFF2-40B4-BE49-F238E27FC236}">
                  <a16:creationId xmlns:a16="http://schemas.microsoft.com/office/drawing/2014/main" xmlns="" id="{8C4EEFAB-19DE-4751-95CB-208351721873}"/>
                </a:ext>
              </a:extLst>
            </p:cNvPr>
            <p:cNvSpPr txBox="1">
              <a:spLocks/>
            </p:cNvSpPr>
            <p:nvPr/>
          </p:nvSpPr>
          <p:spPr>
            <a:xfrm>
              <a:off x="8819788" y="1325562"/>
              <a:ext cx="2786083" cy="357191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>
              <a:lvl1pPr algn="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000" b="0" i="1" kern="1200" baseline="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 defTabSz="685800">
                <a:buClrTx/>
                <a:defRPr/>
              </a:pPr>
              <a:r>
                <a:rPr lang="en-US" sz="1400" b="1" dirty="0">
                  <a:solidFill>
                    <a:srgbClr val="EF8011"/>
                  </a:solidFill>
                  <a:latin typeface="Times New Roman" pitchFamily="18" charset="0"/>
                  <a:cs typeface="Times New Roman" pitchFamily="18" charset="0"/>
                </a:rPr>
                <a:t>Investment Decisions (10%)</a:t>
              </a:r>
            </a:p>
          </p:txBody>
        </p:sp>
        <p:sp>
          <p:nvSpPr>
            <p:cNvPr id="45" name="Title 1">
              <a:extLst>
                <a:ext uri="{FF2B5EF4-FFF2-40B4-BE49-F238E27FC236}">
                  <a16:creationId xmlns:a16="http://schemas.microsoft.com/office/drawing/2014/main" xmlns="" id="{09D32E40-6ADE-4220-A247-AAAAA249F6C6}"/>
                </a:ext>
              </a:extLst>
            </p:cNvPr>
            <p:cNvSpPr txBox="1">
              <a:spLocks/>
            </p:cNvSpPr>
            <p:nvPr/>
          </p:nvSpPr>
          <p:spPr>
            <a:xfrm>
              <a:off x="8810644" y="2081919"/>
              <a:ext cx="3000396" cy="340125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rmAutofit/>
            </a:bodyPr>
            <a:lstStyle>
              <a:lvl1pPr algn="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000" b="0" i="1" kern="1200" baseline="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 defTabSz="685800">
                <a:buClrTx/>
                <a:defRPr/>
              </a:pPr>
              <a:r>
                <a:rPr lang="en-US" sz="1400" b="1" dirty="0">
                  <a:solidFill>
                    <a:srgbClr val="EF8011"/>
                  </a:solidFill>
                  <a:latin typeface="Times New Roman" pitchFamily="18" charset="0"/>
                  <a:cs typeface="Times New Roman" pitchFamily="18" charset="0"/>
                </a:rPr>
                <a:t>Professional Ethics (15%)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3289796151"/>
      </p:ext>
    </p:extLst>
  </p:cSld>
  <p:clrMapOvr>
    <a:masterClrMapping/>
  </p:clrMapOvr>
</p:sld>
</file>

<file path=ppt/theme/theme1.xml><?xml version="1.0" encoding="utf-8"?>
<a:theme xmlns:a="http://schemas.openxmlformats.org/drawingml/2006/main" name="William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</TotalTime>
  <Words>457</Words>
  <Application>Microsoft Office PowerPoint</Application>
  <PresentationFormat>On-screen Show (16:9)</PresentationFormat>
  <Paragraphs>75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Dosis</vt:lpstr>
      <vt:lpstr>Times New Roman</vt:lpstr>
      <vt:lpstr>Roboto</vt:lpstr>
      <vt:lpstr>Century Schoolbook</vt:lpstr>
      <vt:lpstr>Agency FB</vt:lpstr>
      <vt:lpstr>William template</vt:lpstr>
      <vt:lpstr>WHAT IS THE PROGRAM STRUCTURE?</vt:lpstr>
      <vt:lpstr>Course Structure</vt:lpstr>
      <vt:lpstr>Course Structure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TRAINING PROFILE ملف التدريبات</dc:title>
  <dc:creator>User</dc:creator>
  <cp:lastModifiedBy>User</cp:lastModifiedBy>
  <cp:revision>228</cp:revision>
  <dcterms:modified xsi:type="dcterms:W3CDTF">2024-03-19T11:49:38Z</dcterms:modified>
</cp:coreProperties>
</file>